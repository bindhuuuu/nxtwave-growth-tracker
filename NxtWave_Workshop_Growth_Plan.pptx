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47E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4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PLAN: WORKSHOP CAMPAIGN SPRINT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AI Project in 60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Final-Year Engineering Students (CSE/IT/AI-ML) | 7-Day Sprint | Budget: ₹2,000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47E8"/>
                </a:solidFill>
              </a:rPr>
              <a:t>GOAL &amp; AUDIENCE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1547"/>
                </a:solidFill>
              </a:rPr>
              <a:t>500 Registrations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Targeting 4th year CSE, IT, and AI &amp; ML students seeking hands-on project portfolio additions.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SPRINT TIMELINE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1547"/>
                </a:solidFill>
              </a:rPr>
              <a:t>7 Days Execution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Fast daily velocity pacing (~71 regs/day) with continuous performance review and channel reallocation.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BUDGET &amp; UNIT ECONOMICS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1547"/>
                </a:solidFill>
              </a:rPr>
              <a:t>₹2,000 Total Budget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2971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Target Blended CAC of ₹4.00/student. Micro-testing prevents ad burn and protects runway.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1060704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23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547"/>
                </a:solidFill>
              </a:rPr>
              <a:t>STRATEGIC GROWTH THESIS: WHY A GROWTH TRACKER OVER A LANDING PAGE?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3891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Attribution over Assumptions: A static landing page cannot identify which campus batch group or ambassador drives signups.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Strict CAC Discipline: With ₹2,000 for 500 students (allowable CAC = ₹4), uncalibrated ad spend leads to rapid capital exhaustion.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Real-Time Velocity Steering: Measuring daily signup pacing (71/day) enables course-correction before the 7-day sprint ends.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• High-Leverage Zero-Cost Funnels: Campus ambassadors and WhatsApp communities drive 70% of registrations at zero marginal ad spend.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47E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47E8"/>
                </a:solidFill>
              </a:rPr>
              <a:t>ACQUISITION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1547"/>
                </a:solidFill>
              </a:rPr>
              <a:t>4-Channel Marketing Mix (Target = Exactly 500)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60320" cy="475488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2560320" cy="91440"/>
          </a:xfrm>
          <a:prstGeom prst="rect">
            <a:avLst/>
          </a:prstGeom>
          <a:solidFill>
            <a:srgbClr val="2547E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47E8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547"/>
                </a:solidFill>
              </a:rPr>
              <a:t>College Ambassadors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0F5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47E8"/>
                </a:solidFill>
              </a:rPr>
              <a:t>Target: 200 Regs (40%)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547E8"/>
                </a:solidFill>
              </a:rPr>
              <a:t>Est. CAC: ₹2.50 / student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DESCRIPTION &amp; DEMOGRAPHIC: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On-ground student leaders in CSE/IT departments across 5 colleges (IIT-H, NIT-W, CBIT, VNR, JNTU). Unique codes (CAMP101-105).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47E8"/>
                </a:solidFill>
              </a:rPr>
              <a:t>GROWTH TACTIC: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Micro-incentives: Amazon vouchers for top 3 ambassadors crossing 40 registrations.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1463040"/>
            <a:ext cx="2560320" cy="475488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463040"/>
            <a:ext cx="256032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1965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547"/>
                </a:solidFill>
              </a:rPr>
              <a:t>WhatsApp Communities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11880" y="251460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Target: 150 Regs (30%)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Est. CAC: ₹0.80 / student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11880" y="3246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DESCRIPTION &amp; DEMOGRAPHIC: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11880" y="34747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Direct drops in 3rd &amp; 4th year batch groups, placement prep channels, and college coding club communities.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4526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GROWTH TACTIC: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1880" y="47548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Hook: "Build an AI project to add to your resume before final campus placements begin."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463040"/>
            <a:ext cx="2560320" cy="475488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463040"/>
            <a:ext cx="2560320" cy="91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965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547"/>
                </a:solidFill>
              </a:rPr>
              <a:t>Instagram Promotions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09360" y="251460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DF2F8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Target: 75 Regs (15%)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Est. CAC: ₹10.60 / student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246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DESCRIPTION &amp; DEMOGRAPHIC: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34747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Micro-budget paid ads and student creator reel partnerships targeted at engineering hubs.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4526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GROWTH TACTIC: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47548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A/B micro-tests: 15-second VS Code screen recording demonstration of the AI project.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823960" y="1463040"/>
            <a:ext cx="2560320" cy="475488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3960" y="1463040"/>
            <a:ext cx="256032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900684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04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06840" y="1965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547"/>
                </a:solidFill>
              </a:rPr>
              <a:t>Personal &amp; Peer Referrals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006840" y="251460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/>
        </p:spPr>
      </p:sp>
      <p:sp>
        <p:nvSpPr>
          <p:cNvPr id="40" name="Text 38"/>
          <p:cNvSpPr/>
          <p:nvPr/>
        </p:nvSpPr>
        <p:spPr>
          <a:xfrm>
            <a:off x="900684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Target: 75 Regs (15%)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Est. CAC: ₹1.30 / student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6840" y="3246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DESCRIPTION &amp; DEMOGRAPHIC: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006840" y="34747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Student-to-student viral loops and departmental mailing list forwards.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06840" y="4526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GROWTH TACTIC: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06840" y="47548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"Invite 2 batchmates to build together" prompt triggered immediately post-registration.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47E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47E8"/>
                </a:solidFill>
              </a:rPr>
              <a:t>FINANCIAL RIGOR &amp; UNIT ECONOMICS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1547"/>
                </a:solidFill>
              </a:rPr>
              <a:t>₹2,000 Budget Allocation &amp; Burn Protection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583680" cy="43891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Expense Category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Allocated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Share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Operational Objective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7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Instagram Promotion Test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₹800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Phased A/B micro-campaigns testing video CTR vs carousel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Promotional Content Assets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₹300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Figma templates, motion graphic teaser, and WhatsApp flyer packs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Ambassador Incentives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Amazon gift vouchers for top 3 campus leads crossing targets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Contingency Reserve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₹400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Guarded buffer reserved for scaling top channel on Day 5-6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Total Campaign Budget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47E8"/>
                          </a:solidFill>
                        </a:rPr>
                        <a:t>₹2,000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Blended Cost Per Acquisition (CAC): ₹4.00 per student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463040"/>
            <a:ext cx="3749040" cy="2103120"/>
          </a:xfrm>
          <a:prstGeom prst="roundRect">
            <a:avLst>
              <a:gd name="adj" fmla="val 6522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6459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UNIT ECONOMICS DISCIPLINE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1874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547"/>
                </a:solidFill>
              </a:rPr>
              <a:t>₹4.00 Max Allowable CAC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0" y="22860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₹2,000 ÷ 500 students = ₹4.00 blended CAC target.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Paid ads alone in tech cost ₹15-₹30/lead; relying purely on paid ads would yield only 70-130 students.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Combining organic ambassador virality (₹0 marginal CAC) with paid testing balances unit economics.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589520" y="3749040"/>
            <a:ext cx="3749040" cy="2103120"/>
          </a:xfrm>
          <a:prstGeom prst="roundRect">
            <a:avLst>
              <a:gd name="adj" fmla="val 6522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39319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DYNAMIC OVERSPEND PROTECTION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4160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1547"/>
                </a:solidFill>
              </a:rPr>
              <a:t>Budget Safety Alerts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0" y="45720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Micro-test staging: Initial ad test capped at ₹350 on Day 2 before further allocation.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Dynamic alert banner triggers at 80% burn rate (₹1,600 spent with &gt;2 days left).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Hard stop warning if total logged expenses exceed ₹2,000 threshold.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47E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47E8"/>
                </a:solidFill>
              </a:rPr>
              <a:t>OPERATIONAL EXECUTION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1547"/>
                </a:solidFill>
              </a:rPr>
              <a:t>7-Day Sprint Execution Schedule &amp; Milestones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444752" cy="4754880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1170432" cy="411480"/>
          </a:xfrm>
          <a:prstGeom prst="roundRect">
            <a:avLst>
              <a:gd name="adj" fmla="val 17778"/>
            </a:avLst>
          </a:prstGeom>
          <a:solidFill>
            <a:srgbClr val="0C154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547"/>
                </a:solidFill>
              </a:rPr>
              <a:t>Prep &amp; Setup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1261872" cy="41148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35 Regs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KEY ACTIVITIES: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12618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Finalize tracking UTMs, Figma posters, and onboard 3 campus leads.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67712" y="1463040"/>
            <a:ext cx="1444752" cy="4754880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1645920"/>
            <a:ext cx="1170432" cy="411480"/>
          </a:xfrm>
          <a:prstGeom prst="roundRect">
            <a:avLst>
              <a:gd name="adj" fmla="val 17778"/>
            </a:avLst>
          </a:prstGeom>
          <a:solidFill>
            <a:srgbClr val="0C1547"/>
          </a:solidFill>
          <a:ln/>
        </p:spPr>
      </p:sp>
      <p:sp>
        <p:nvSpPr>
          <p:cNvPr id="15" name="Text 13"/>
          <p:cNvSpPr/>
          <p:nvPr/>
        </p:nvSpPr>
        <p:spPr>
          <a:xfrm>
            <a:off x="2404872" y="169164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59152" y="21488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547"/>
                </a:solidFill>
              </a:rPr>
              <a:t>Outreach Blitz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59152" y="2651760"/>
            <a:ext cx="1261872" cy="41148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2359152" y="26974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95 Regs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59152" y="320040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KEY ACTIVITIES: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59152" y="3429000"/>
            <a:ext cx="12618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Activate 15 batch WhatsApp groups; deploy ₹350 Instagram micro-test.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03904" y="1463040"/>
            <a:ext cx="1444752" cy="4754880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41064" y="1645920"/>
            <a:ext cx="1170432" cy="411480"/>
          </a:xfrm>
          <a:prstGeom prst="roundRect">
            <a:avLst>
              <a:gd name="adj" fmla="val 17778"/>
            </a:avLst>
          </a:prstGeom>
          <a:solidFill>
            <a:srgbClr val="0C1547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169164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95344" y="21488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547"/>
                </a:solidFill>
              </a:rPr>
              <a:t>Social Proof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95344" y="2651760"/>
            <a:ext cx="1261872" cy="41148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26" name="Text 24"/>
          <p:cNvSpPr/>
          <p:nvPr/>
        </p:nvSpPr>
        <p:spPr>
          <a:xfrm>
            <a:off x="3895344" y="26974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180 Regs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95344" y="320040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KEY ACTIVITIES: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95344" y="3429000"/>
            <a:ext cx="12618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Evaluate Ad Test A; release mid-week ambassador referral leaderboard.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40096" y="1463040"/>
            <a:ext cx="1444752" cy="4754880"/>
          </a:xfrm>
          <a:prstGeom prst="roundRect">
            <a:avLst>
              <a:gd name="adj" fmla="val 7595"/>
            </a:avLst>
          </a:prstGeom>
          <a:solidFill>
            <a:srgbClr val="F0F5FF"/>
          </a:solidFill>
          <a:ln w="25400">
            <a:solidFill>
              <a:srgbClr val="2547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77256" y="1645920"/>
            <a:ext cx="1170432" cy="411480"/>
          </a:xfrm>
          <a:prstGeom prst="roundRect">
            <a:avLst>
              <a:gd name="adj" fmla="val 17778"/>
            </a:avLst>
          </a:prstGeom>
          <a:solidFill>
            <a:srgbClr val="2547E8"/>
          </a:solidFill>
          <a:ln/>
        </p:spPr>
      </p:sp>
      <p:sp>
        <p:nvSpPr>
          <p:cNvPr id="31" name="Text 29"/>
          <p:cNvSpPr/>
          <p:nvPr/>
        </p:nvSpPr>
        <p:spPr>
          <a:xfrm>
            <a:off x="5477256" y="169164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31536" y="21488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547"/>
                </a:solidFill>
              </a:rPr>
              <a:t>Mid-Sprint Audit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31536" y="2651760"/>
            <a:ext cx="1261872" cy="41148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5431536" y="26974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290 Regs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31536" y="320040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KEY ACTIVITIES: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31536" y="3429000"/>
            <a:ext cx="12618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Current Day: 284 regs recorded (56.8%); trigger peer referral challenge.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76288" y="1463040"/>
            <a:ext cx="1444752" cy="4754880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13448" y="1645920"/>
            <a:ext cx="1170432" cy="411480"/>
          </a:xfrm>
          <a:prstGeom prst="roundRect">
            <a:avLst>
              <a:gd name="adj" fmla="val 17778"/>
            </a:avLst>
          </a:prstGeom>
          <a:solidFill>
            <a:srgbClr val="0C1547"/>
          </a:solidFill>
          <a:ln/>
        </p:spPr>
      </p:sp>
      <p:sp>
        <p:nvSpPr>
          <p:cNvPr id="39" name="Text 37"/>
          <p:cNvSpPr/>
          <p:nvPr/>
        </p:nvSpPr>
        <p:spPr>
          <a:xfrm>
            <a:off x="7013448" y="169164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67728" y="21488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547"/>
                </a:solidFill>
              </a:rPr>
              <a:t>Channel Review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67728" y="2651760"/>
            <a:ext cx="1261872" cy="41148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42" name="Text 40"/>
          <p:cNvSpPr/>
          <p:nvPr/>
        </p:nvSpPr>
        <p:spPr>
          <a:xfrm>
            <a:off x="6967728" y="26974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390 Regs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67728" y="320040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KEY ACTIVITIES: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67728" y="3429000"/>
            <a:ext cx="12618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Reallocate ₹200 from contingency to top-performing ambassador hubs.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412480" y="1463040"/>
            <a:ext cx="1444752" cy="4754880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49640" y="1645920"/>
            <a:ext cx="1170432" cy="411480"/>
          </a:xfrm>
          <a:prstGeom prst="roundRect">
            <a:avLst>
              <a:gd name="adj" fmla="val 17778"/>
            </a:avLst>
          </a:prstGeom>
          <a:solidFill>
            <a:srgbClr val="0C1547"/>
          </a:solidFill>
          <a:ln/>
        </p:spPr>
      </p:sp>
      <p:sp>
        <p:nvSpPr>
          <p:cNvPr id="47" name="Text 45"/>
          <p:cNvSpPr/>
          <p:nvPr/>
        </p:nvSpPr>
        <p:spPr>
          <a:xfrm>
            <a:off x="8549640" y="169164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03920" y="21488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547"/>
                </a:solidFill>
              </a:rPr>
              <a:t>Urgency Drive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03920" y="2651760"/>
            <a:ext cx="1261872" cy="41148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26974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460 Regs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503920" y="320040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KEY ACTIVITIES: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503920" y="3429000"/>
            <a:ext cx="12618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"Seats Filling Fast" countdown across batch groups and status stories.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948672" y="1463040"/>
            <a:ext cx="1444752" cy="4754880"/>
          </a:xfrm>
          <a:prstGeom prst="roundRect">
            <a:avLst>
              <a:gd name="adj" fmla="val 75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85832" y="1645920"/>
            <a:ext cx="1170432" cy="411480"/>
          </a:xfrm>
          <a:prstGeom prst="roundRect">
            <a:avLst>
              <a:gd name="adj" fmla="val 17778"/>
            </a:avLst>
          </a:prstGeom>
          <a:solidFill>
            <a:srgbClr val="0C1547"/>
          </a:solidFill>
          <a:ln/>
        </p:spPr>
      </p:sp>
      <p:sp>
        <p:nvSpPr>
          <p:cNvPr id="55" name="Text 53"/>
          <p:cNvSpPr/>
          <p:nvPr/>
        </p:nvSpPr>
        <p:spPr>
          <a:xfrm>
            <a:off x="10085832" y="169164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D7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040112" y="214884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547"/>
                </a:solidFill>
              </a:rPr>
              <a:t>Final Push &amp; Lock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040112" y="2651760"/>
            <a:ext cx="1261872" cy="41148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/>
        </p:spPr>
      </p:sp>
      <p:sp>
        <p:nvSpPr>
          <p:cNvPr id="58" name="Text 56"/>
          <p:cNvSpPr/>
          <p:nvPr/>
        </p:nvSpPr>
        <p:spPr>
          <a:xfrm>
            <a:off x="10040112" y="269748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500 Regs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0040112" y="320040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KEY ACTIVITIES: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040112" y="3429000"/>
            <a:ext cx="12618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Final 6-hour broadcast, cross 500 registrations, award ambassador prizes.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47E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47E8"/>
                </a:solidFill>
              </a:rPr>
              <a:t>GROWTH INTELLIGENCE &amp; 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1547"/>
                </a:solidFill>
              </a:rPr>
              <a:t>Measurement Engine, Referral Attribution &amp; Live Asset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47E8"/>
                </a:solidFill>
              </a:rPr>
              <a:t>CAMPUS AMBASSADOR ATTRIBUTION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Dynamic attribution calculated from registration records (not hardcoded):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377440"/>
          <a:ext cx="4572000" cy="201168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Ambassador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College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Code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Signups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% Total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Rahul Sharma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IIT Hyderabad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CAMP101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9.9%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Sneha Patel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NIT Warangal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CAMP102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8.8%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Priya Rao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CBIT Hyderabad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CAMP103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8.5%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Aditya Verma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VNR VJIET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CAMP104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7.7%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Ananya Reddy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JNTU College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CAMP105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7.0%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0584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Key Takeaway: Ambassadors deliver zero-marginal-ad-spend registrations and drive over 40% of all registrations.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5120640" cy="4754880"/>
          </a:xfrm>
          <a:prstGeom prst="roundRect">
            <a:avLst>
              <a:gd name="adj" fmla="val 28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WORKING ASSET &amp; VERIFICATION METRICS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205740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21945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LIVE VERCEL PRODUCTION DEPLOYMENT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2468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47E8"/>
                </a:solidFill>
              </a:rPr>
              <a:t>https://nxtwave-growth-tracker-99fxwr60t-bindhuuuu.vercel.app/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92240" y="333756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0F5FF"/>
          </a:solidFill>
          <a:ln/>
        </p:spPr>
      </p:sp>
      <p:sp>
        <p:nvSpPr>
          <p:cNvPr id="16" name="Text 13"/>
          <p:cNvSpPr/>
          <p:nvPr/>
        </p:nvSpPr>
        <p:spPr>
          <a:xfrm>
            <a:off x="6675120" y="34747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47E8"/>
                </a:solidFill>
              </a:rPr>
              <a:t>GITHUB REPOSITORY &amp; AUTOMATION TESTS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749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https://github.com/Bindhuuuu/NxtWave-Growth-Tracker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23/23 Automated Unit Tests Passing (100%)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TypeScript strict compile: 0 errors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92240" y="44805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Core Technical Differentiators: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1. Duplicate email prevention across 284+ student records.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2. Reactive metric recalculations on record addition/deletion.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3. Rule-based growth engine + "What-If" scenario sandbox.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4. Client-side localStorage persistence with 1-click demo reset.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NxtWave Workshop Growth Plan</dc:title>
  <dc:subject>Build Your First AI Project in 60 Minutes - 500 Registrations Sprint</dc:subject>
  <dc:creator>Bindhu</dc:creator>
  <cp:lastModifiedBy>Bindhu</cp:lastModifiedBy>
  <cp:revision>1</cp:revision>
  <dcterms:created xsi:type="dcterms:W3CDTF">2026-10-29T11:43:37Z</dcterms:created>
  <dcterms:modified xsi:type="dcterms:W3CDTF">2026-10-29T11:43:37Z</dcterms:modified>
</cp:coreProperties>
</file>